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(0:00–0:30 · HOOK):</a:t>
            </a:r>
          </a:p>
          <a:p>
            <a:r>
              <a:t>"Respected judges, Chhattisgarh is the rice bowl of India. But after every harvest, millions of hectares of topsoil lose organic carbon to intense summer heat and stubble burning. Traditional soil health cards sample just one point per 10 hectares every three years — farmers stay blind to degradation."</a:t>
            </a:r>
          </a:p>
          <a:p/>
          <a:p>
            <a:r>
              <a:t>SoilGuard-CG is our answer: a 100% offline, satellite-driven ML platform that maps Soil Organic Carbon deficiency at 10-metre resolution and tells officers exactly where to act.</a:t>
            </a:r>
          </a:p>
          <a:p/>
          <a:p>
            <a:r>
              <a:t>Say the numbers slowly: 2.27 million pixels evaluated · 19.6% of topsoil in critical deficiency.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(0:00–0:30 · PROBLEM):</a:t>
            </a:r>
          </a:p>
          <a:p>
            <a:r>
              <a:t>Tell the story, don't read bullets:</a:t>
            </a:r>
          </a:p>
          <a:p>
            <a:r>
              <a:t>"After every paddy harvest, Chhattisgarh's fields sit bare under 42-degree summer heat. Stubble burning finishes off the rest. The result: over half the region's agricultural grids now sit below the critical 0.50% organic-carbon threshold."</a:t>
            </a:r>
          </a:p>
          <a:p/>
          <a:p>
            <a:r>
              <a:t>The killer point: "And the only tool we have today — government soil health cards — samples one physical point per 10 hectares, once every three years. At ₹2–3 thousand per sample. Farmers are flying blind."</a:t>
            </a:r>
          </a:p>
          <a:p/>
          <a:p>
            <a:r>
              <a:t>Pause. Then: "We built a satellite that changes this — at zero sampling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(0:30–1:15 · SOLUTION &amp; DEMO):</a:t>
            </a:r>
          </a:p>
          <a:p>
            <a:r>
              <a:t>"With ONE terminal command, SoilGuard-CG takes 10-metre Sentinel-2 imagery, isolates 2.27 million bare-soil pixels using NDVI and the Bare Soil Index, trains a leakage-free Random Forest, and renders SOC deficiency maps in about a minute — 100% offline."</a:t>
            </a:r>
          </a:p>
          <a:p/>
          <a:p>
            <a:r>
              <a:t>Zero-leakage is your strongest credibility point — say it exactly:</a:t>
            </a:r>
          </a:p>
          <a:p>
            <a:r>
              <a:t>"We deliberately exclude the SoilGrids SOC map from the model's inputs. The model must learn true optical physics — carbon-rich soil absorbs SWIR light, depleted soil reflects it. That's why our R² is honest."</a:t>
            </a:r>
          </a:p>
          <a:p/>
          <a:p>
            <a:r>
              <a:t>If running the live demo (demo.bat), do it during this slide: point at the terminal as each step completes. Say "you are watching the whole pipeline run right now."</a:t>
            </a:r>
          </a:p>
          <a:p/>
          <a:p>
            <a:r>
              <a:t>R² defence ready: "Peer-reviewed optical-soil-carbon benchmarks are R² ∈ [0.35, 0.55] — we're right inside. Anything above 0.9 usually leaks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(1:15–1:45 · RESULTS):</a:t>
            </a:r>
          </a:p>
          <a:p>
            <a:r>
              <a:t>Point at the map, then the chips:</a:t>
            </a:r>
          </a:p>
          <a:p>
            <a:r>
              <a:t>"Across 22,700 hectares we found 19.6% of topsoil — over 4,400 hectares — in critical SOC deficiency. The red zones on this 10-metre map are exactly where organic carbon is missing."</a:t>
            </a:r>
          </a:p>
          <a:p/>
          <a:p>
            <a:r>
              <a:t>"Three sectors dominate: Arang B-1, Abhanpur A-1 and Arang B-2 — together nearly 2,700 hectares of high-deficiency soil in the Raipur belt."</a:t>
            </a:r>
          </a:p>
          <a:p/>
          <a:p>
            <a:r>
              <a:t>Transition: "But we don't stop at a map. We turn it into action."</a:t>
            </a:r>
          </a:p>
          <a:p/>
          <a:p>
            <a:r>
              <a:t>Tip: zoom into the red zone with your hand/laser pointer. Make the audience feel the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(1:45–2:15 · ADVISORY):</a:t>
            </a:r>
          </a:p>
          <a:p>
            <a:r>
              <a:t>"The map ranks sectors; the advisory engine makes it actionable. For Arang B-1 — our rank-one block — the system prescribes 10 to 12 tonnes of farmyard manure per hectare before the Kharif season, green manuring, and lime for the acidic patches."</a:t>
            </a:r>
          </a:p>
          <a:p/>
          <a:p>
            <a:r>
              <a:t>Emphasise the clay sensitivity:</a:t>
            </a:r>
          </a:p>
          <a:p>
            <a:r>
              <a:t>"The same risk score gives different advice on heavy Vertisol clay versus light sandy soil — 8–10 tonnes per hectare plus zero-tillage, so we don't compact the clay."</a:t>
            </a:r>
          </a:p>
          <a:p/>
          <a:p>
            <a:r>
              <a:t>Close the loop: "A district collector can now route PMKSY or RKVY funds to exactly the blocks that need them — with exact tonne quantities per block."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(2:15–3:00 · VALIDATION &amp; CLOSE):</a:t>
            </a:r>
          </a:p>
          <a:p>
            <a:r>
              <a:t>"We don't stop at our own predictions. We cross-validate against official ISRO Bhuvan land-cover baselines — an 82% match with agricultural cropland — and attach our advisories to real Gram Panchayats through Bhuvan village geocoding."</a:t>
            </a:r>
          </a:p>
          <a:p/>
          <a:p>
            <a:r>
              <a:t>Impact close (memorise):</a:t>
            </a:r>
          </a:p>
          <a:p>
            <a:r>
              <a:t>"SoilGuard-CG turns open Earth Observation data into climate-resilient soil intelligence — 100% offline, zero sampling cost, and directly actionable under national soil and carbon programmes. Thank you."</a:t>
            </a:r>
          </a:p>
          <a:p/>
          <a:p>
            <a:r>
              <a:t>Final Q&amp;A safety:</a:t>
            </a:r>
          </a:p>
          <a:p>
            <a:r>
              <a:t>• R² too low? → "Literature benchmark for un-leakaged optical SOC is 0.35–0.55 — we're inside."</a:t>
            </a:r>
          </a:p>
          <a:p>
            <a:r>
              <a:t>• Internet? → "Runs fully offline on cached rasters."</a:t>
            </a:r>
          </a:p>
          <a:p>
            <a:r>
              <a:t>• Limitations? → "Topsoil 0–15cm, post-harvest bare windows, prioritisation proxy not lab assay."</a:t>
            </a:r>
          </a:p>
          <a:p>
            <a:r>
              <a:t>• What's next? → "Multi-date compositing, SAR for deep carbon, field app + API."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ounded Rectangle 1"/>
          <p:cNvSpPr/>
          <p:nvPr/>
        </p:nvSpPr>
        <p:spPr>
          <a:xfrm>
            <a:off x="822960" y="960120"/>
            <a:ext cx="10515600" cy="457200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234440"/>
            <a:ext cx="9875520" cy="457200"/>
          </a:xfrm>
          <a:prstGeom prst="rect">
            <a:avLst/>
          </a:prstGeom>
          <a:noFill/>
        </p:spPr>
        <p:txBody>
          <a:bodyPr wrap="square">
            <a:spAutoFit/>
          </a:bodyPr>
          <a:lstStyle/>
          <a:p>
            <a:pPr algn="ctr">
              <a:spcAft>
                <a:spcPts val="400"/>
              </a:spcAft>
            </a:pPr>
            <a:r>
              <a:rPr sz="1300" b="1" i="0">
                <a:solidFill>
                  <a:srgbClr val="38BDF8"/>
                </a:solidFill>
              </a:rPr>
              <a:t>NATIONAL SPACE DAY IDEATHON 2026 · COSINE NIT RAIPUR × NRSC / ISRO</a:t>
            </a:r>
          </a:p>
        </p:txBody>
      </p:sp>
      <p:sp>
        <p:nvSpPr>
          <p:cNvPr id="4" name="TextBox 3"/>
          <p:cNvSpPr txBox="1"/>
          <p:nvPr/>
        </p:nvSpPr>
        <p:spPr>
          <a:xfrm>
            <a:off x="1188720" y="1737360"/>
            <a:ext cx="9875520" cy="1737360"/>
          </a:xfrm>
          <a:prstGeom prst="rect">
            <a:avLst/>
          </a:prstGeom>
          <a:noFill/>
        </p:spPr>
        <p:txBody>
          <a:bodyPr wrap="square">
            <a:spAutoFit/>
          </a:bodyPr>
          <a:lstStyle/>
          <a:p>
            <a:pPr algn="ctr">
              <a:spcAft>
                <a:spcPts val="600"/>
              </a:spcAft>
            </a:pPr>
            <a:r>
              <a:rPr sz="5400" b="1" i="0">
                <a:solidFill>
                  <a:srgbClr val="F1F5F9"/>
                </a:solidFill>
              </a:rPr>
              <a:t>SoilGuard-CG</a:t>
            </a:r>
          </a:p>
          <a:p>
            <a:pPr algn="ctr">
              <a:spcAft>
                <a:spcPts val="1400"/>
              </a:spcAft>
            </a:pPr>
            <a:r>
              <a:rPr sz="2600" b="1" i="0">
                <a:solidFill>
                  <a:srgbClr val="22C55E"/>
                </a:solidFill>
              </a:rPr>
              <a:t>Chhattisgarh Soil Carbon Sentinel</a:t>
            </a:r>
          </a:p>
          <a:p>
            <a:pPr algn="ctr">
              <a:spcAft>
                <a:spcPts val="400"/>
              </a:spcAft>
            </a:pPr>
            <a:r>
              <a:rPr sz="1600" b="0" i="0">
                <a:solidFill>
                  <a:srgbClr val="9CA8B8"/>
                </a:solidFill>
              </a:rPr>
              <a:t>Satellite-Driven High-Resolution SOC Deficiency Mapping &amp; Regenerative Advisory System</a:t>
            </a:r>
          </a:p>
        </p:txBody>
      </p:sp>
      <p:sp>
        <p:nvSpPr>
          <p:cNvPr id="5" name="TextBox 4"/>
          <p:cNvSpPr txBox="1"/>
          <p:nvPr/>
        </p:nvSpPr>
        <p:spPr>
          <a:xfrm>
            <a:off x="1188720" y="3977639"/>
            <a:ext cx="9875520" cy="822960"/>
          </a:xfrm>
          <a:prstGeom prst="rect">
            <a:avLst/>
          </a:prstGeom>
          <a:noFill/>
        </p:spPr>
        <p:txBody>
          <a:bodyPr wrap="square">
            <a:spAutoFit/>
          </a:bodyPr>
          <a:lstStyle/>
          <a:p>
            <a:pPr algn="ctr">
              <a:spcAft>
                <a:spcPts val="400"/>
              </a:spcAft>
            </a:pPr>
            <a:r>
              <a:rPr sz="1400" b="1" i="0">
                <a:solidFill>
                  <a:srgbClr val="F1F5F9"/>
                </a:solidFill>
              </a:rPr>
              <a:t>10m Sentinel-2  ·  Random Forest  ·  Zero Target Leakage  ·  100% Offline  ·  ISRO Bhuvan Validated</a:t>
            </a:r>
          </a:p>
        </p:txBody>
      </p:sp>
      <p:sp>
        <p:nvSpPr>
          <p:cNvPr id="6" name="TextBox 5"/>
          <p:cNvSpPr txBox="1"/>
          <p:nvPr/>
        </p:nvSpPr>
        <p:spPr>
          <a:xfrm>
            <a:off x="1188720" y="4892040"/>
            <a:ext cx="9875520" cy="365760"/>
          </a:xfrm>
          <a:prstGeom prst="rect">
            <a:avLst/>
          </a:prstGeom>
          <a:noFill/>
        </p:spPr>
        <p:txBody>
          <a:bodyPr wrap="square">
            <a:spAutoFit/>
          </a:bodyPr>
          <a:lstStyle/>
          <a:p>
            <a:pPr algn="ctr">
              <a:spcAft>
                <a:spcPts val="400"/>
              </a:spcAft>
            </a:pPr>
            <a:r>
              <a:rPr sz="1200" b="0" i="0">
                <a:solidFill>
                  <a:srgbClr val="EAB308"/>
                </a:solidFill>
              </a:rPr>
              <a:t>Raipur–Durg Agricultural Belt, Chhattisgarh  |  Team SoilGuard Innovation</a:t>
            </a:r>
          </a:p>
        </p:txBody>
      </p:sp>
      <p:sp>
        <p:nvSpPr>
          <p:cNvPr id="7" name="TextBox 6"/>
          <p:cNvSpPr txBox="1"/>
          <p:nvPr/>
        </p:nvSpPr>
        <p:spPr>
          <a:xfrm>
            <a:off x="502920" y="6419088"/>
            <a:ext cx="11155680" cy="365760"/>
          </a:xfrm>
          <a:prstGeom prst="rect">
            <a:avLst/>
          </a:prstGeom>
          <a:noFill/>
        </p:spPr>
        <p:txBody>
          <a:bodyPr wrap="none">
            <a:spAutoFit/>
          </a:bodyPr>
          <a:lstStyle/>
          <a:p>
            <a:r>
              <a:rPr sz="900">
                <a:solidFill>
                  <a:srgbClr val="9CA8B8"/>
                </a:solidFill>
              </a:rPr>
              <a:t>SoilGuard-CG · Chhattisgarh Soil Carbon Sentinel · National Space Day Ideathon 2026</a:t>
            </a:r>
          </a:p>
          <a:p>
            <a:pPr algn="r"/>
            <a:r>
              <a:rPr sz="900">
                <a:solidFill>
                  <a:srgbClr val="9CA8B8"/>
                </a:solidFill>
              </a:rP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92608"/>
            <a:ext cx="11155680" cy="457200"/>
          </a:xfrm>
          <a:prstGeom prst="rect">
            <a:avLst/>
          </a:prstGeom>
          <a:noFill/>
        </p:spPr>
        <p:txBody>
          <a:bodyPr wrap="square">
            <a:spAutoFit/>
          </a:bodyPr>
          <a:lstStyle/>
          <a:p>
            <a:pPr algn="l">
              <a:spcAft>
                <a:spcPts val="200"/>
              </a:spcAft>
            </a:pPr>
            <a:r>
              <a:rPr sz="1200" b="1" i="0">
                <a:solidFill>
                  <a:srgbClr val="38BDF8"/>
                </a:solidFill>
              </a:rPr>
              <a:t>THE PROBLEM</a:t>
            </a:r>
          </a:p>
        </p:txBody>
      </p:sp>
      <p:sp>
        <p:nvSpPr>
          <p:cNvPr id="3" name="TextBox 2"/>
          <p:cNvSpPr txBox="1"/>
          <p:nvPr/>
        </p:nvSpPr>
        <p:spPr>
          <a:xfrm>
            <a:off x="502920" y="566928"/>
            <a:ext cx="11155680" cy="822960"/>
          </a:xfrm>
          <a:prstGeom prst="rect">
            <a:avLst/>
          </a:prstGeom>
          <a:noFill/>
        </p:spPr>
        <p:txBody>
          <a:bodyPr wrap="square">
            <a:spAutoFit/>
          </a:bodyPr>
          <a:lstStyle/>
          <a:p>
            <a:pPr algn="l">
              <a:spcAft>
                <a:spcPts val="0"/>
              </a:spcAft>
            </a:pPr>
            <a:r>
              <a:rPr sz="3000" b="1" i="0">
                <a:solidFill>
                  <a:srgbClr val="F1F5F9"/>
                </a:solidFill>
              </a:rPr>
              <a:t>Chhattisgarh's topsoil is losing carbon — and nobody can see where</a:t>
            </a:r>
          </a:p>
        </p:txBody>
      </p:sp>
      <p:sp>
        <p:nvSpPr>
          <p:cNvPr id="4" name="Rectangle 3"/>
          <p:cNvSpPr/>
          <p:nvPr/>
        </p:nvSpPr>
        <p:spPr>
          <a:xfrm>
            <a:off x="502920" y="1371600"/>
            <a:ext cx="146304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81328"/>
            <a:ext cx="11155680" cy="457200"/>
          </a:xfrm>
          <a:prstGeom prst="rect">
            <a:avLst/>
          </a:prstGeom>
          <a:noFill/>
        </p:spPr>
        <p:txBody>
          <a:bodyPr wrap="square">
            <a:spAutoFit/>
          </a:bodyPr>
          <a:lstStyle/>
          <a:p>
            <a:pPr algn="l">
              <a:spcAft>
                <a:spcPts val="400"/>
              </a:spcAft>
            </a:pPr>
            <a:r>
              <a:rPr sz="1300" b="0" i="1">
                <a:solidFill>
                  <a:srgbClr val="9CA8B8"/>
                </a:solidFill>
              </a:rPr>
              <a:t>Dhan ka Katora (Rice Bowl): Raipur–Durg–Dhamtari plains · 3.5M smallholder farmers</a:t>
            </a:r>
          </a:p>
        </p:txBody>
      </p:sp>
      <p:sp>
        <p:nvSpPr>
          <p:cNvPr id="6" name="Rounded Rectangle 5"/>
          <p:cNvSpPr/>
          <p:nvPr/>
        </p:nvSpPr>
        <p:spPr>
          <a:xfrm>
            <a:off x="502920" y="1783080"/>
            <a:ext cx="5486400" cy="44348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65960"/>
            <a:ext cx="4937760" cy="4114800"/>
          </a:xfrm>
          <a:prstGeom prst="rect">
            <a:avLst/>
          </a:prstGeom>
          <a:noFill/>
        </p:spPr>
        <p:txBody>
          <a:bodyPr wrap="square">
            <a:spAutoFit/>
          </a:bodyPr>
          <a:lstStyle/>
          <a:p>
            <a:pPr algn="l">
              <a:spcAft>
                <a:spcPts val="800"/>
              </a:spcAft>
            </a:pPr>
            <a:r>
              <a:rPr sz="1700" b="1" i="0">
                <a:solidFill>
                  <a:srgbClr val="22C55E"/>
                </a:solidFill>
              </a:rPr>
              <a:t>Three drivers of topsoil carbon loss</a:t>
            </a:r>
          </a:p>
          <a:p>
            <a:pPr algn="l">
              <a:spcAft>
                <a:spcPts val="400"/>
              </a:spcAft>
            </a:pPr>
            <a:r>
              <a:rPr sz="1400" b="0" i="0">
                <a:solidFill>
                  <a:srgbClr val="F1F5F9"/>
                </a:solidFill>
              </a:rPr>
              <a:t>•  Paddy mono-cropping — waterlogged rice accelerates organic-matter breakdown</a:t>
            </a:r>
          </a:p>
          <a:p>
            <a:pPr algn="l">
              <a:spcAft>
                <a:spcPts val="400"/>
              </a:spcAft>
            </a:pPr>
            <a:r>
              <a:rPr sz="1400" b="0" i="0">
                <a:solidFill>
                  <a:srgbClr val="F1F5F9"/>
                </a:solidFill>
              </a:rPr>
              <a:t>•  Summer heat 42°C+ — thermal oxidation of exposed topsoil</a:t>
            </a:r>
          </a:p>
          <a:p>
            <a:pPr algn="l">
              <a:spcAft>
                <a:spcPts val="400"/>
              </a:spcAft>
            </a:pPr>
            <a:r>
              <a:rPr sz="1400" b="0" i="0">
                <a:solidFill>
                  <a:srgbClr val="F1F5F9"/>
                </a:solidFill>
              </a:rPr>
              <a:t>•  Stubble burning — direct combustion of residue organic carbon</a:t>
            </a:r>
          </a:p>
          <a:p>
            <a:pPr algn="l">
              <a:spcAft>
                <a:spcPts val="200"/>
              </a:spcAft>
            </a:pPr>
            <a:r>
              <a:rPr sz="600" b="0" i="0">
                <a:solidFill>
                  <a:srgbClr val="F1F5F9"/>
                </a:solidFill>
              </a:rPr>
              <a:t> </a:t>
            </a:r>
          </a:p>
          <a:p>
            <a:pPr algn="l">
              <a:spcAft>
                <a:spcPts val="800"/>
              </a:spcAft>
            </a:pPr>
            <a:r>
              <a:rPr sz="1700" b="1" i="0">
                <a:solidFill>
                  <a:srgbClr val="EF4444"/>
                </a:solidFill>
              </a:rPr>
              <a:t>The measurement gap</a:t>
            </a:r>
          </a:p>
          <a:p>
            <a:pPr algn="l">
              <a:spcAft>
                <a:spcPts val="400"/>
              </a:spcAft>
            </a:pPr>
            <a:r>
              <a:rPr sz="1400" b="0" i="0">
                <a:solidFill>
                  <a:srgbClr val="F1F5F9"/>
                </a:solidFill>
              </a:rPr>
              <a:t>•  Soil Health Cards: 1 physical sample per 10 ha, once every 3 years</a:t>
            </a:r>
          </a:p>
          <a:p>
            <a:pPr algn="l">
              <a:spcAft>
                <a:spcPts val="400"/>
              </a:spcAft>
            </a:pPr>
            <a:r>
              <a:rPr sz="1400" b="0" i="0">
                <a:solidFill>
                  <a:srgbClr val="F1F5F9"/>
                </a:solidFill>
              </a:rPr>
              <a:t>•  ₹2,000–3,000 per sample — broad monitoring is unaffordable</a:t>
            </a:r>
          </a:p>
          <a:p>
            <a:pPr algn="l">
              <a:spcAft>
                <a:spcPts val="400"/>
              </a:spcAft>
            </a:pPr>
            <a:r>
              <a:rPr sz="1400" b="0" i="0">
                <a:solidFill>
                  <a:srgbClr val="F1F5F9"/>
                </a:solidFill>
              </a:rPr>
              <a:t>•  Misses intra-field variability and the post-harvest window entirely</a:t>
            </a:r>
          </a:p>
        </p:txBody>
      </p:sp>
      <p:sp>
        <p:nvSpPr>
          <p:cNvPr id="8" name="Rounded Rectangle 7"/>
          <p:cNvSpPr/>
          <p:nvPr/>
        </p:nvSpPr>
        <p:spPr>
          <a:xfrm>
            <a:off x="6263640" y="1783080"/>
            <a:ext cx="5394960" cy="12344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892808"/>
            <a:ext cx="5065776" cy="685800"/>
          </a:xfrm>
          <a:prstGeom prst="rect">
            <a:avLst/>
          </a:prstGeom>
          <a:noFill/>
        </p:spPr>
        <p:txBody>
          <a:bodyPr wrap="square">
            <a:spAutoFit/>
          </a:bodyPr>
          <a:lstStyle/>
          <a:p>
            <a:pPr algn="l">
              <a:spcAft>
                <a:spcPts val="0"/>
              </a:spcAft>
            </a:pPr>
            <a:r>
              <a:rPr sz="2600" b="1" i="0">
                <a:solidFill>
                  <a:srgbClr val="EF4444"/>
                </a:solidFill>
              </a:rPr>
              <a:t>&gt; 52%</a:t>
            </a:r>
          </a:p>
        </p:txBody>
      </p:sp>
      <p:sp>
        <p:nvSpPr>
          <p:cNvPr id="10" name="TextBox 9"/>
          <p:cNvSpPr txBox="1"/>
          <p:nvPr/>
        </p:nvSpPr>
        <p:spPr>
          <a:xfrm>
            <a:off x="6428232" y="2532888"/>
            <a:ext cx="5065776" cy="411480"/>
          </a:xfrm>
          <a:prstGeom prst="rect">
            <a:avLst/>
          </a:prstGeom>
          <a:noFill/>
        </p:spPr>
        <p:txBody>
          <a:bodyPr wrap="square">
            <a:spAutoFit/>
          </a:bodyPr>
          <a:lstStyle/>
          <a:p>
            <a:pPr algn="l">
              <a:spcAft>
                <a:spcPts val="400"/>
              </a:spcAft>
            </a:pPr>
            <a:r>
              <a:rPr sz="1100" b="0" i="0">
                <a:solidFill>
                  <a:srgbClr val="9CA8B8"/>
                </a:solidFill>
              </a:rPr>
              <a:t>agricultural grids with SOC below critical 0.50% threshold</a:t>
            </a:r>
          </a:p>
        </p:txBody>
      </p:sp>
      <p:sp>
        <p:nvSpPr>
          <p:cNvPr id="11" name="Rounded Rectangle 10"/>
          <p:cNvSpPr/>
          <p:nvPr/>
        </p:nvSpPr>
        <p:spPr>
          <a:xfrm>
            <a:off x="6263640" y="3200400"/>
            <a:ext cx="5394960" cy="12344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3310128"/>
            <a:ext cx="5065776" cy="685800"/>
          </a:xfrm>
          <a:prstGeom prst="rect">
            <a:avLst/>
          </a:prstGeom>
          <a:noFill/>
        </p:spPr>
        <p:txBody>
          <a:bodyPr wrap="square">
            <a:spAutoFit/>
          </a:bodyPr>
          <a:lstStyle/>
          <a:p>
            <a:pPr algn="l">
              <a:spcAft>
                <a:spcPts val="0"/>
              </a:spcAft>
            </a:pPr>
            <a:r>
              <a:rPr sz="2600" b="1" i="0">
                <a:solidFill>
                  <a:srgbClr val="EAB308"/>
                </a:solidFill>
              </a:rPr>
              <a:t>1 : 10 ha</a:t>
            </a:r>
          </a:p>
        </p:txBody>
      </p:sp>
      <p:sp>
        <p:nvSpPr>
          <p:cNvPr id="13" name="TextBox 12"/>
          <p:cNvSpPr txBox="1"/>
          <p:nvPr/>
        </p:nvSpPr>
        <p:spPr>
          <a:xfrm>
            <a:off x="6428232" y="3950208"/>
            <a:ext cx="5065776" cy="411480"/>
          </a:xfrm>
          <a:prstGeom prst="rect">
            <a:avLst/>
          </a:prstGeom>
          <a:noFill/>
        </p:spPr>
        <p:txBody>
          <a:bodyPr wrap="square">
            <a:spAutoFit/>
          </a:bodyPr>
          <a:lstStyle/>
          <a:p>
            <a:pPr algn="l">
              <a:spcAft>
                <a:spcPts val="400"/>
              </a:spcAft>
            </a:pPr>
            <a:r>
              <a:rPr sz="1100" b="0" i="0">
                <a:solidFill>
                  <a:srgbClr val="9CA8B8"/>
                </a:solidFill>
              </a:rPr>
              <a:t>sampling density of traditional soil health cards (every 3 years)</a:t>
            </a:r>
          </a:p>
        </p:txBody>
      </p:sp>
      <p:sp>
        <p:nvSpPr>
          <p:cNvPr id="14" name="Rounded Rectangle 13"/>
          <p:cNvSpPr/>
          <p:nvPr/>
        </p:nvSpPr>
        <p:spPr>
          <a:xfrm>
            <a:off x="6263640" y="4617720"/>
            <a:ext cx="5394960" cy="12344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4727448"/>
            <a:ext cx="5065776" cy="685800"/>
          </a:xfrm>
          <a:prstGeom prst="rect">
            <a:avLst/>
          </a:prstGeom>
          <a:noFill/>
        </p:spPr>
        <p:txBody>
          <a:bodyPr wrap="square">
            <a:spAutoFit/>
          </a:bodyPr>
          <a:lstStyle/>
          <a:p>
            <a:pPr algn="l">
              <a:spcAft>
                <a:spcPts val="0"/>
              </a:spcAft>
            </a:pPr>
            <a:r>
              <a:rPr sz="2600" b="1" i="0">
                <a:solidFill>
                  <a:srgbClr val="38BDF8"/>
                </a:solidFill>
              </a:rPr>
              <a:t>42°C +</a:t>
            </a:r>
          </a:p>
        </p:txBody>
      </p:sp>
      <p:sp>
        <p:nvSpPr>
          <p:cNvPr id="16" name="TextBox 15"/>
          <p:cNvSpPr txBox="1"/>
          <p:nvPr/>
        </p:nvSpPr>
        <p:spPr>
          <a:xfrm>
            <a:off x="6428232" y="5367528"/>
            <a:ext cx="5065776" cy="411480"/>
          </a:xfrm>
          <a:prstGeom prst="rect">
            <a:avLst/>
          </a:prstGeom>
          <a:noFill/>
        </p:spPr>
        <p:txBody>
          <a:bodyPr wrap="square">
            <a:spAutoFit/>
          </a:bodyPr>
          <a:lstStyle/>
          <a:p>
            <a:pPr algn="l">
              <a:spcAft>
                <a:spcPts val="400"/>
              </a:spcAft>
            </a:pPr>
            <a:r>
              <a:rPr sz="1100" b="0" i="0">
                <a:solidFill>
                  <a:srgbClr val="9CA8B8"/>
                </a:solidFill>
              </a:rPr>
              <a:t>post-harvest summer topsoil temperatures drive carbon loss</a:t>
            </a:r>
          </a:p>
        </p:txBody>
      </p:sp>
      <p:sp>
        <p:nvSpPr>
          <p:cNvPr id="17" name="TextBox 16"/>
          <p:cNvSpPr txBox="1"/>
          <p:nvPr/>
        </p:nvSpPr>
        <p:spPr>
          <a:xfrm>
            <a:off x="502920" y="6419088"/>
            <a:ext cx="11155680" cy="365760"/>
          </a:xfrm>
          <a:prstGeom prst="rect">
            <a:avLst/>
          </a:prstGeom>
          <a:noFill/>
        </p:spPr>
        <p:txBody>
          <a:bodyPr wrap="none">
            <a:spAutoFit/>
          </a:bodyPr>
          <a:lstStyle/>
          <a:p>
            <a:r>
              <a:rPr sz="900">
                <a:solidFill>
                  <a:srgbClr val="9CA8B8"/>
                </a:solidFill>
              </a:rPr>
              <a:t>SoilGuard-CG · Chhattisgarh Soil Carbon Sentinel · National Space Day Ideathon 2026</a:t>
            </a:r>
          </a:p>
          <a:p>
            <a:pPr algn="r"/>
            <a:r>
              <a:rPr sz="900">
                <a:solidFill>
                  <a:srgbClr val="9CA8B8"/>
                </a:solidFill>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92608"/>
            <a:ext cx="11155680" cy="457200"/>
          </a:xfrm>
          <a:prstGeom prst="rect">
            <a:avLst/>
          </a:prstGeom>
          <a:noFill/>
        </p:spPr>
        <p:txBody>
          <a:bodyPr wrap="square">
            <a:spAutoFit/>
          </a:bodyPr>
          <a:lstStyle/>
          <a:p>
            <a:pPr algn="l">
              <a:spcAft>
                <a:spcPts val="200"/>
              </a:spcAft>
            </a:pPr>
            <a:r>
              <a:rPr sz="1200" b="1" i="0">
                <a:solidFill>
                  <a:srgbClr val="38BDF8"/>
                </a:solidFill>
              </a:rPr>
              <a:t>THE SOLUTION</a:t>
            </a:r>
          </a:p>
        </p:txBody>
      </p:sp>
      <p:sp>
        <p:nvSpPr>
          <p:cNvPr id="3" name="TextBox 2"/>
          <p:cNvSpPr txBox="1"/>
          <p:nvPr/>
        </p:nvSpPr>
        <p:spPr>
          <a:xfrm>
            <a:off x="502920" y="566928"/>
            <a:ext cx="11155680" cy="822960"/>
          </a:xfrm>
          <a:prstGeom prst="rect">
            <a:avLst/>
          </a:prstGeom>
          <a:noFill/>
        </p:spPr>
        <p:txBody>
          <a:bodyPr wrap="square">
            <a:spAutoFit/>
          </a:bodyPr>
          <a:lstStyle/>
          <a:p>
            <a:pPr algn="l">
              <a:spcAft>
                <a:spcPts val="0"/>
              </a:spcAft>
            </a:pPr>
            <a:r>
              <a:rPr sz="3000" b="1" i="0">
                <a:solidFill>
                  <a:srgbClr val="F1F5F9"/>
                </a:solidFill>
              </a:rPr>
              <a:t>One offline pipeline: satellite pixels → soil intelligence</a:t>
            </a:r>
          </a:p>
        </p:txBody>
      </p:sp>
      <p:sp>
        <p:nvSpPr>
          <p:cNvPr id="4" name="Rectangle 3"/>
          <p:cNvSpPr/>
          <p:nvPr/>
        </p:nvSpPr>
        <p:spPr>
          <a:xfrm>
            <a:off x="502920" y="1371600"/>
            <a:ext cx="146304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81328"/>
            <a:ext cx="11155680" cy="457200"/>
          </a:xfrm>
          <a:prstGeom prst="rect">
            <a:avLst/>
          </a:prstGeom>
          <a:noFill/>
        </p:spPr>
        <p:txBody>
          <a:bodyPr wrap="square">
            <a:spAutoFit/>
          </a:bodyPr>
          <a:lstStyle/>
          <a:p>
            <a:pPr algn="l">
              <a:spcAft>
                <a:spcPts val="400"/>
              </a:spcAft>
            </a:pPr>
            <a:r>
              <a:rPr sz="1300" b="0" i="1">
                <a:solidFill>
                  <a:srgbClr val="9CA8B8"/>
                </a:solidFill>
              </a:rPr>
              <a:t>Python 3.11 · rasterio · scikit-learn · matplotlib · rich · runs on a basic laptop, no internet</a:t>
            </a:r>
          </a:p>
        </p:txBody>
      </p:sp>
      <p:sp>
        <p:nvSpPr>
          <p:cNvPr id="6" name="Rounded Rectangle 5"/>
          <p:cNvSpPr/>
          <p:nvPr/>
        </p:nvSpPr>
        <p:spPr>
          <a:xfrm>
            <a:off x="365760" y="1828800"/>
            <a:ext cx="1755648" cy="155448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20240"/>
            <a:ext cx="1572768" cy="1371600"/>
          </a:xfrm>
          <a:prstGeom prst="rect">
            <a:avLst/>
          </a:prstGeom>
          <a:noFill/>
        </p:spPr>
        <p:txBody>
          <a:bodyPr wrap="square">
            <a:spAutoFit/>
          </a:bodyPr>
          <a:lstStyle/>
          <a:p>
            <a:pPr algn="ctr">
              <a:spcAft>
                <a:spcPts val="400"/>
              </a:spcAft>
            </a:pPr>
            <a:r>
              <a:rPr sz="1300" b="1" i="0">
                <a:solidFill>
                  <a:srgbClr val="F1F5F9"/>
                </a:solidFill>
              </a:rPr>
              <a:t>Sentinel-2
10m L2A COG</a:t>
            </a:r>
          </a:p>
          <a:p>
            <a:pPr algn="ctr">
              <a:spcAft>
                <a:spcPts val="400"/>
              </a:spcAft>
            </a:pPr>
            <a:r>
              <a:rPr sz="1000" b="0" i="0">
                <a:solidFill>
                  <a:srgbClr val="9CA8B8"/>
                </a:solidFill>
              </a:rPr>
              <a:t>B02 Blue · B04 Red
B08 NIR · B11 SWIR1</a:t>
            </a:r>
          </a:p>
        </p:txBody>
      </p:sp>
      <p:sp>
        <p:nvSpPr>
          <p:cNvPr id="8" name="Right Arrow 7"/>
          <p:cNvSpPr/>
          <p:nvPr/>
        </p:nvSpPr>
        <p:spPr>
          <a:xfrm>
            <a:off x="2084832" y="2450592"/>
            <a:ext cx="256032" cy="310896"/>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67712" y="1828800"/>
            <a:ext cx="1755648" cy="155448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59152" y="1920240"/>
            <a:ext cx="1572768" cy="1371600"/>
          </a:xfrm>
          <a:prstGeom prst="rect">
            <a:avLst/>
          </a:prstGeom>
          <a:noFill/>
        </p:spPr>
        <p:txBody>
          <a:bodyPr wrap="square">
            <a:spAutoFit/>
          </a:bodyPr>
          <a:lstStyle/>
          <a:p>
            <a:pPr algn="ctr">
              <a:spcAft>
                <a:spcPts val="400"/>
              </a:spcAft>
            </a:pPr>
            <a:r>
              <a:rPr sz="1300" b="1" i="0">
                <a:solidFill>
                  <a:srgbClr val="F1F5F9"/>
                </a:solidFill>
              </a:rPr>
              <a:t>Bare-Soil Mask
NDVI ≤ 0.30 · BSI</a:t>
            </a:r>
          </a:p>
          <a:p>
            <a:pPr algn="ctr">
              <a:spcAft>
                <a:spcPts val="400"/>
              </a:spcAft>
            </a:pPr>
            <a:r>
              <a:rPr sz="1000" b="0" i="0">
                <a:solidFill>
                  <a:srgbClr val="9CA8B8"/>
                </a:solidFill>
              </a:rPr>
              <a:t>2.27 M pixels isolated
(48.96% of scene)</a:t>
            </a:r>
          </a:p>
        </p:txBody>
      </p:sp>
      <p:sp>
        <p:nvSpPr>
          <p:cNvPr id="11" name="Right Arrow 10"/>
          <p:cNvSpPr/>
          <p:nvPr/>
        </p:nvSpPr>
        <p:spPr>
          <a:xfrm>
            <a:off x="3986784" y="2450592"/>
            <a:ext cx="256032" cy="310896"/>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69664" y="1828800"/>
            <a:ext cx="1755648" cy="155448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61104" y="1920240"/>
            <a:ext cx="1572768" cy="1371600"/>
          </a:xfrm>
          <a:prstGeom prst="rect">
            <a:avLst/>
          </a:prstGeom>
          <a:noFill/>
        </p:spPr>
        <p:txBody>
          <a:bodyPr wrap="square">
            <a:spAutoFit/>
          </a:bodyPr>
          <a:lstStyle/>
          <a:p>
            <a:pPr algn="ctr">
              <a:spcAft>
                <a:spcPts val="400"/>
              </a:spcAft>
            </a:pPr>
            <a:r>
              <a:rPr sz="1300" b="1" i="0">
                <a:solidFill>
                  <a:srgbClr val="F1F5F9"/>
                </a:solidFill>
              </a:rPr>
              <a:t>Random Forest
150 trees · 9 features</a:t>
            </a:r>
          </a:p>
          <a:p>
            <a:pPr algn="ctr">
              <a:spcAft>
                <a:spcPts val="400"/>
              </a:spcAft>
            </a:pPr>
            <a:r>
              <a:rPr sz="1000" b="0" i="0">
                <a:solidFill>
                  <a:srgbClr val="9CA8B8"/>
                </a:solidFill>
              </a:rPr>
              <a:t>No target leakage
SoilGrids SOC excluded</a:t>
            </a:r>
          </a:p>
        </p:txBody>
      </p:sp>
      <p:sp>
        <p:nvSpPr>
          <p:cNvPr id="14" name="Right Arrow 13"/>
          <p:cNvSpPr/>
          <p:nvPr/>
        </p:nvSpPr>
        <p:spPr>
          <a:xfrm>
            <a:off x="5888736" y="2450592"/>
            <a:ext cx="256032" cy="310896"/>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71616" y="1828800"/>
            <a:ext cx="1755648" cy="155448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3056" y="1920240"/>
            <a:ext cx="1572768" cy="1371600"/>
          </a:xfrm>
          <a:prstGeom prst="rect">
            <a:avLst/>
          </a:prstGeom>
          <a:noFill/>
        </p:spPr>
        <p:txBody>
          <a:bodyPr wrap="square">
            <a:spAutoFit/>
          </a:bodyPr>
          <a:lstStyle/>
          <a:p>
            <a:pPr algn="ctr">
              <a:spcAft>
                <a:spcPts val="400"/>
              </a:spcAft>
            </a:pPr>
            <a:r>
              <a:rPr sz="1300" b="1" i="0">
                <a:solidFill>
                  <a:srgbClr val="F1F5F9"/>
                </a:solidFill>
              </a:rPr>
              <a:t>SOC Deficiency
Map (0–1, 10m)</a:t>
            </a:r>
          </a:p>
          <a:p>
            <a:pPr algn="ctr">
              <a:spcAft>
                <a:spcPts val="400"/>
              </a:spcAft>
            </a:pPr>
            <a:r>
              <a:rPr sz="1000" b="0" i="0">
                <a:solidFill>
                  <a:srgbClr val="9CA8B8"/>
                </a:solidFill>
              </a:rPr>
              <a:t>Risk score per pixel
published at 300 DPI</a:t>
            </a:r>
          </a:p>
        </p:txBody>
      </p:sp>
      <p:sp>
        <p:nvSpPr>
          <p:cNvPr id="17" name="Right Arrow 16"/>
          <p:cNvSpPr/>
          <p:nvPr/>
        </p:nvSpPr>
        <p:spPr>
          <a:xfrm>
            <a:off x="7790688" y="2450592"/>
            <a:ext cx="256032" cy="310896"/>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73568" y="1828800"/>
            <a:ext cx="1755648" cy="155448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1920240"/>
            <a:ext cx="1572768" cy="1371600"/>
          </a:xfrm>
          <a:prstGeom prst="rect">
            <a:avLst/>
          </a:prstGeom>
          <a:noFill/>
        </p:spPr>
        <p:txBody>
          <a:bodyPr wrap="square">
            <a:spAutoFit/>
          </a:bodyPr>
          <a:lstStyle/>
          <a:p>
            <a:pPr algn="ctr">
              <a:spcAft>
                <a:spcPts val="400"/>
              </a:spcAft>
            </a:pPr>
            <a:r>
              <a:rPr sz="1300" b="1" i="0">
                <a:solidFill>
                  <a:srgbClr val="F1F5F9"/>
                </a:solidFill>
              </a:rPr>
              <a:t>5×5 Zonal Grid
25 sectors</a:t>
            </a:r>
          </a:p>
          <a:p>
            <a:pPr algn="ctr">
              <a:spcAft>
                <a:spcPts val="400"/>
              </a:spcAft>
            </a:pPr>
            <a:r>
              <a:rPr sz="1000" b="0" i="0">
                <a:solidFill>
                  <a:srgbClr val="9CA8B8"/>
                </a:solidFill>
              </a:rPr>
              <a:t>Priority ranking
A1–E5 administrative</a:t>
            </a:r>
          </a:p>
        </p:txBody>
      </p:sp>
      <p:sp>
        <p:nvSpPr>
          <p:cNvPr id="20" name="Right Arrow 19"/>
          <p:cNvSpPr/>
          <p:nvPr/>
        </p:nvSpPr>
        <p:spPr>
          <a:xfrm>
            <a:off x="9692640" y="2450592"/>
            <a:ext cx="256032" cy="310896"/>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875520" y="1828800"/>
            <a:ext cx="1755648" cy="155448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0" y="1920240"/>
            <a:ext cx="1572768" cy="1371600"/>
          </a:xfrm>
          <a:prstGeom prst="rect">
            <a:avLst/>
          </a:prstGeom>
          <a:noFill/>
        </p:spPr>
        <p:txBody>
          <a:bodyPr wrap="square">
            <a:spAutoFit/>
          </a:bodyPr>
          <a:lstStyle/>
          <a:p>
            <a:pPr algn="ctr">
              <a:spcAft>
                <a:spcPts val="400"/>
              </a:spcAft>
            </a:pPr>
            <a:r>
              <a:rPr sz="1300" b="1" i="0">
                <a:solidFill>
                  <a:srgbClr val="F1F5F9"/>
                </a:solidFill>
              </a:rPr>
              <a:t>Advisory Engine
FYM · tillage · pH</a:t>
            </a:r>
          </a:p>
          <a:p>
            <a:pPr algn="ctr">
              <a:spcAft>
                <a:spcPts val="400"/>
              </a:spcAft>
            </a:pPr>
            <a:r>
              <a:rPr sz="1000" b="0" i="0">
                <a:solidFill>
                  <a:srgbClr val="9CA8B8"/>
                </a:solidFill>
              </a:rPr>
              <a:t>Clay-sensitive packages
per sector</a:t>
            </a:r>
          </a:p>
        </p:txBody>
      </p:sp>
      <p:sp>
        <p:nvSpPr>
          <p:cNvPr id="23" name="Rounded Rectangle 22"/>
          <p:cNvSpPr/>
          <p:nvPr/>
        </p:nvSpPr>
        <p:spPr>
          <a:xfrm>
            <a:off x="365760" y="3703320"/>
            <a:ext cx="11430000" cy="96012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822191"/>
            <a:ext cx="10972800" cy="731520"/>
          </a:xfrm>
          <a:prstGeom prst="rect">
            <a:avLst/>
          </a:prstGeom>
          <a:noFill/>
        </p:spPr>
        <p:txBody>
          <a:bodyPr wrap="square">
            <a:spAutoFit/>
          </a:bodyPr>
          <a:lstStyle/>
          <a:p>
            <a:pPr algn="l">
              <a:spcAft>
                <a:spcPts val="0"/>
              </a:spcAft>
            </a:pPr>
            <a:r>
              <a:rPr sz="1400" b="1" i="0">
                <a:solidFill>
                  <a:srgbClr val="22C55E"/>
                </a:solidFill>
              </a:rPr>
              <a:t>ZERO TARGET LEAKAGE  ·  </a:t>
            </a:r>
          </a:p>
          <a:p>
            <a:r>
              <a:rPr sz="1300">
                <a:solidFill>
                  <a:srgbClr val="F1F5F9"/>
                </a:solidFill>
              </a:rPr>
              <a:t>Raw SoilGrids SOC is 100% excluded from the model's features. The Random Forest must learn the link between optical SWIR/NIR reflectance and SOC deficiency — it cannot memorise static maps.</a:t>
            </a:r>
          </a:p>
        </p:txBody>
      </p:sp>
      <p:sp>
        <p:nvSpPr>
          <p:cNvPr id="25" name="Rounded Rectangle 24"/>
          <p:cNvSpPr/>
          <p:nvPr/>
        </p:nvSpPr>
        <p:spPr>
          <a:xfrm>
            <a:off x="365760" y="4846320"/>
            <a:ext cx="11430000" cy="137160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956048"/>
            <a:ext cx="10972800" cy="1188720"/>
          </a:xfrm>
          <a:prstGeom prst="rect">
            <a:avLst/>
          </a:prstGeom>
          <a:noFill/>
        </p:spPr>
        <p:txBody>
          <a:bodyPr wrap="square">
            <a:spAutoFit/>
          </a:bodyPr>
          <a:lstStyle/>
          <a:p>
            <a:pPr algn="l">
              <a:spcAft>
                <a:spcPts val="400"/>
              </a:spcAft>
            </a:pPr>
            <a:r>
              <a:rPr sz="1300" b="1" i="0">
                <a:solidFill>
                  <a:srgbClr val="38BDF8"/>
                </a:solidFill>
              </a:rPr>
              <a:t>Model card</a:t>
            </a:r>
          </a:p>
          <a:p>
            <a:pPr algn="l">
              <a:spcAft>
                <a:spcPts val="400"/>
              </a:spcAft>
            </a:pPr>
            <a:r>
              <a:rPr sz="1250" b="0" i="0">
                <a:solidFill>
                  <a:srgbClr val="F1F5F9"/>
                </a:solidFill>
              </a:rPr>
              <a:t>Target  y = 0.60·(1 − SOCₙₒᵣₘ) + 0.40·BSIₙₒᵣₘ      |      Features: 9 satellite-only (BSI, NDVI, SWIR1/NIR &amp; SWIR1/Red ratios, Blue/Red/NIR/SWIR1)      |      Test R² = 0.4486, RMSE = 0.1132      |      split 80/20, random_state 42</a:t>
            </a:r>
          </a:p>
        </p:txBody>
      </p:sp>
      <p:sp>
        <p:nvSpPr>
          <p:cNvPr id="27" name="TextBox 26"/>
          <p:cNvSpPr txBox="1"/>
          <p:nvPr/>
        </p:nvSpPr>
        <p:spPr>
          <a:xfrm>
            <a:off x="502920" y="6419088"/>
            <a:ext cx="11155680" cy="365760"/>
          </a:xfrm>
          <a:prstGeom prst="rect">
            <a:avLst/>
          </a:prstGeom>
          <a:noFill/>
        </p:spPr>
        <p:txBody>
          <a:bodyPr wrap="none">
            <a:spAutoFit/>
          </a:bodyPr>
          <a:lstStyle/>
          <a:p>
            <a:r>
              <a:rPr sz="900">
                <a:solidFill>
                  <a:srgbClr val="9CA8B8"/>
                </a:solidFill>
              </a:rPr>
              <a:t>SoilGuard-CG · Chhattisgarh Soil Carbon Sentinel · National Space Day Ideathon 2026</a:t>
            </a:r>
          </a:p>
          <a:p>
            <a:pPr algn="r"/>
            <a:r>
              <a:rPr sz="900">
                <a:solidFill>
                  <a:srgbClr val="9CA8B8"/>
                </a:solidFill>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92608"/>
            <a:ext cx="11155680" cy="457200"/>
          </a:xfrm>
          <a:prstGeom prst="rect">
            <a:avLst/>
          </a:prstGeom>
          <a:noFill/>
        </p:spPr>
        <p:txBody>
          <a:bodyPr wrap="square">
            <a:spAutoFit/>
          </a:bodyPr>
          <a:lstStyle/>
          <a:p>
            <a:pPr algn="l">
              <a:spcAft>
                <a:spcPts val="200"/>
              </a:spcAft>
            </a:pPr>
            <a:r>
              <a:rPr sz="1200" b="1" i="0">
                <a:solidFill>
                  <a:srgbClr val="38BDF8"/>
                </a:solidFill>
              </a:rPr>
              <a:t>KEY RESULTS</a:t>
            </a:r>
          </a:p>
        </p:txBody>
      </p:sp>
      <p:sp>
        <p:nvSpPr>
          <p:cNvPr id="3" name="TextBox 2"/>
          <p:cNvSpPr txBox="1"/>
          <p:nvPr/>
        </p:nvSpPr>
        <p:spPr>
          <a:xfrm>
            <a:off x="502920" y="566928"/>
            <a:ext cx="11155680" cy="822960"/>
          </a:xfrm>
          <a:prstGeom prst="rect">
            <a:avLst/>
          </a:prstGeom>
          <a:noFill/>
        </p:spPr>
        <p:txBody>
          <a:bodyPr wrap="square">
            <a:spAutoFit/>
          </a:bodyPr>
          <a:lstStyle/>
          <a:p>
            <a:pPr algn="l">
              <a:spcAft>
                <a:spcPts val="0"/>
              </a:spcAft>
            </a:pPr>
            <a:r>
              <a:rPr sz="3000" b="1" i="0">
                <a:solidFill>
                  <a:srgbClr val="F1F5F9"/>
                </a:solidFill>
              </a:rPr>
              <a:t>19.6% of evaluated topsoil is in critical SOC deficiency</a:t>
            </a:r>
          </a:p>
        </p:txBody>
      </p:sp>
      <p:sp>
        <p:nvSpPr>
          <p:cNvPr id="4" name="Rectangle 3"/>
          <p:cNvSpPr/>
          <p:nvPr/>
        </p:nvSpPr>
        <p:spPr>
          <a:xfrm>
            <a:off x="502920" y="1371600"/>
            <a:ext cx="146304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81328"/>
            <a:ext cx="11155680" cy="457200"/>
          </a:xfrm>
          <a:prstGeom prst="rect">
            <a:avLst/>
          </a:prstGeom>
          <a:noFill/>
        </p:spPr>
        <p:txBody>
          <a:bodyPr wrap="square">
            <a:spAutoFit/>
          </a:bodyPr>
          <a:lstStyle/>
          <a:p>
            <a:pPr algn="l">
              <a:spcAft>
                <a:spcPts val="400"/>
              </a:spcAft>
            </a:pPr>
            <a:r>
              <a:rPr sz="1300" b="0" i="1">
                <a:solidFill>
                  <a:srgbClr val="9CA8B8"/>
                </a:solidFill>
              </a:rPr>
              <a:t>Full AOI 46,372 ha · bare soil evaluated 22,702 ha</a:t>
            </a:r>
          </a:p>
        </p:txBody>
      </p:sp>
      <p:sp>
        <p:nvSpPr>
          <p:cNvPr id="6" name="Rounded Rectangle 5"/>
          <p:cNvSpPr/>
          <p:nvPr/>
        </p:nvSpPr>
        <p:spPr>
          <a:xfrm>
            <a:off x="502920" y="1737360"/>
            <a:ext cx="3657600" cy="12344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847088"/>
            <a:ext cx="3328416" cy="685800"/>
          </a:xfrm>
          <a:prstGeom prst="rect">
            <a:avLst/>
          </a:prstGeom>
          <a:noFill/>
        </p:spPr>
        <p:txBody>
          <a:bodyPr wrap="square">
            <a:spAutoFit/>
          </a:bodyPr>
          <a:lstStyle/>
          <a:p>
            <a:pPr algn="l">
              <a:spcAft>
                <a:spcPts val="0"/>
              </a:spcAft>
            </a:pPr>
            <a:r>
              <a:rPr sz="2600" b="1" i="0">
                <a:solidFill>
                  <a:srgbClr val="EF4444"/>
                </a:solidFill>
              </a:rPr>
              <a:t>4,441 ha</a:t>
            </a:r>
          </a:p>
        </p:txBody>
      </p:sp>
      <p:sp>
        <p:nvSpPr>
          <p:cNvPr id="8" name="TextBox 7"/>
          <p:cNvSpPr txBox="1"/>
          <p:nvPr/>
        </p:nvSpPr>
        <p:spPr>
          <a:xfrm>
            <a:off x="667512" y="2487168"/>
            <a:ext cx="3328416" cy="411480"/>
          </a:xfrm>
          <a:prstGeom prst="rect">
            <a:avLst/>
          </a:prstGeom>
          <a:noFill/>
        </p:spPr>
        <p:txBody>
          <a:bodyPr wrap="square">
            <a:spAutoFit/>
          </a:bodyPr>
          <a:lstStyle/>
          <a:p>
            <a:pPr algn="l">
              <a:spcAft>
                <a:spcPts val="400"/>
              </a:spcAft>
            </a:pPr>
            <a:r>
              <a:rPr sz="1100" b="0" i="0">
                <a:solidFill>
                  <a:srgbClr val="9CA8B8"/>
                </a:solidFill>
              </a:rPr>
              <a:t>high deficiency (&gt;0.58) · 19.6% of soil area</a:t>
            </a:r>
          </a:p>
        </p:txBody>
      </p:sp>
      <p:sp>
        <p:nvSpPr>
          <p:cNvPr id="9" name="Rounded Rectangle 8"/>
          <p:cNvSpPr/>
          <p:nvPr/>
        </p:nvSpPr>
        <p:spPr>
          <a:xfrm>
            <a:off x="4343400" y="1737360"/>
            <a:ext cx="3657600" cy="12344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847088"/>
            <a:ext cx="3328416" cy="685800"/>
          </a:xfrm>
          <a:prstGeom prst="rect">
            <a:avLst/>
          </a:prstGeom>
          <a:noFill/>
        </p:spPr>
        <p:txBody>
          <a:bodyPr wrap="square">
            <a:spAutoFit/>
          </a:bodyPr>
          <a:lstStyle/>
          <a:p>
            <a:pPr algn="l">
              <a:spcAft>
                <a:spcPts val="0"/>
              </a:spcAft>
            </a:pPr>
            <a:r>
              <a:rPr sz="2600" b="1" i="0">
                <a:solidFill>
                  <a:srgbClr val="EAB308"/>
                </a:solidFill>
              </a:rPr>
              <a:t>7,793 ha</a:t>
            </a:r>
          </a:p>
        </p:txBody>
      </p:sp>
      <p:sp>
        <p:nvSpPr>
          <p:cNvPr id="11" name="TextBox 10"/>
          <p:cNvSpPr txBox="1"/>
          <p:nvPr/>
        </p:nvSpPr>
        <p:spPr>
          <a:xfrm>
            <a:off x="4507992" y="2487168"/>
            <a:ext cx="3328416" cy="411480"/>
          </a:xfrm>
          <a:prstGeom prst="rect">
            <a:avLst/>
          </a:prstGeom>
          <a:noFill/>
        </p:spPr>
        <p:txBody>
          <a:bodyPr wrap="square">
            <a:spAutoFit/>
          </a:bodyPr>
          <a:lstStyle/>
          <a:p>
            <a:pPr algn="l">
              <a:spcAft>
                <a:spcPts val="400"/>
              </a:spcAft>
            </a:pPr>
            <a:r>
              <a:rPr sz="1100" b="0" i="0">
                <a:solidFill>
                  <a:srgbClr val="9CA8B8"/>
                </a:solidFill>
              </a:rPr>
              <a:t>moderate (0.45–0.58) · needs replenishment</a:t>
            </a:r>
          </a:p>
        </p:txBody>
      </p:sp>
      <p:sp>
        <p:nvSpPr>
          <p:cNvPr id="12" name="Rounded Rectangle 11"/>
          <p:cNvSpPr/>
          <p:nvPr/>
        </p:nvSpPr>
        <p:spPr>
          <a:xfrm>
            <a:off x="8183879" y="1737360"/>
            <a:ext cx="3520440" cy="12344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1" y="1847088"/>
            <a:ext cx="3191256" cy="685800"/>
          </a:xfrm>
          <a:prstGeom prst="rect">
            <a:avLst/>
          </a:prstGeom>
          <a:noFill/>
        </p:spPr>
        <p:txBody>
          <a:bodyPr wrap="square">
            <a:spAutoFit/>
          </a:bodyPr>
          <a:lstStyle/>
          <a:p>
            <a:pPr algn="l">
              <a:spcAft>
                <a:spcPts val="0"/>
              </a:spcAft>
            </a:pPr>
            <a:r>
              <a:rPr sz="2600" b="1" i="0">
                <a:solidFill>
                  <a:srgbClr val="22C55E"/>
                </a:solidFill>
              </a:rPr>
              <a:t>10,469 ha</a:t>
            </a:r>
          </a:p>
        </p:txBody>
      </p:sp>
      <p:sp>
        <p:nvSpPr>
          <p:cNvPr id="14" name="TextBox 13"/>
          <p:cNvSpPr txBox="1"/>
          <p:nvPr/>
        </p:nvSpPr>
        <p:spPr>
          <a:xfrm>
            <a:off x="8348471" y="2487168"/>
            <a:ext cx="3191256" cy="411480"/>
          </a:xfrm>
          <a:prstGeom prst="rect">
            <a:avLst/>
          </a:prstGeom>
          <a:noFill/>
        </p:spPr>
        <p:txBody>
          <a:bodyPr wrap="square">
            <a:spAutoFit/>
          </a:bodyPr>
          <a:lstStyle/>
          <a:p>
            <a:pPr algn="l">
              <a:spcAft>
                <a:spcPts val="400"/>
              </a:spcAft>
            </a:pPr>
            <a:r>
              <a:rPr sz="1100" b="0" i="0">
                <a:solidFill>
                  <a:srgbClr val="9CA8B8"/>
                </a:solidFill>
              </a:rPr>
              <a:t>low (&lt;0.45) · stable, maintain</a:t>
            </a:r>
          </a:p>
        </p:txBody>
      </p:sp>
      <p:pic>
        <p:nvPicPr>
          <p:cNvPr id="15" name="Picture 14" descr="phase3_risk_score_map.png"/>
          <p:cNvPicPr>
            <a:picLocks noChangeAspect="1"/>
          </p:cNvPicPr>
          <p:nvPr/>
        </p:nvPicPr>
        <p:blipFill>
          <a:blip r:embed="rId2"/>
          <a:stretch>
            <a:fillRect/>
          </a:stretch>
        </p:blipFill>
        <p:spPr>
          <a:xfrm>
            <a:off x="502920" y="3200400"/>
            <a:ext cx="5852160" cy="5552237"/>
          </a:xfrm>
          <a:prstGeom prst="rect">
            <a:avLst/>
          </a:prstGeom>
        </p:spPr>
      </p:pic>
      <p:sp>
        <p:nvSpPr>
          <p:cNvPr id="16" name="Rounded Rectangle 15"/>
          <p:cNvSpPr/>
          <p:nvPr/>
        </p:nvSpPr>
        <p:spPr>
          <a:xfrm>
            <a:off x="6583680" y="3154680"/>
            <a:ext cx="5120640" cy="310896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3291840"/>
            <a:ext cx="4663440" cy="365760"/>
          </a:xfrm>
          <a:prstGeom prst="rect">
            <a:avLst/>
          </a:prstGeom>
          <a:noFill/>
        </p:spPr>
        <p:txBody>
          <a:bodyPr wrap="square">
            <a:spAutoFit/>
          </a:bodyPr>
          <a:lstStyle/>
          <a:p>
            <a:pPr algn="l">
              <a:spcAft>
                <a:spcPts val="400"/>
              </a:spcAft>
            </a:pPr>
            <a:r>
              <a:rPr sz="1500" b="1" i="0">
                <a:solidFill>
                  <a:srgbClr val="38BDF8"/>
                </a:solidFill>
              </a:rPr>
              <a:t>Top priority sectors</a:t>
            </a:r>
          </a:p>
        </p:txBody>
      </p:sp>
      <p:sp>
        <p:nvSpPr>
          <p:cNvPr id="18" name="Rounded Rectangle 17"/>
          <p:cNvSpPr/>
          <p:nvPr/>
        </p:nvSpPr>
        <p:spPr>
          <a:xfrm>
            <a:off x="6812280" y="3749039"/>
            <a:ext cx="4663440" cy="713232"/>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95160" y="3822191"/>
            <a:ext cx="4572000" cy="548640"/>
          </a:xfrm>
          <a:prstGeom prst="rect">
            <a:avLst/>
          </a:prstGeom>
          <a:noFill/>
        </p:spPr>
        <p:txBody>
          <a:bodyPr wrap="square">
            <a:spAutoFit/>
          </a:bodyPr>
          <a:lstStyle/>
          <a:p>
            <a:pPr algn="l">
              <a:spcAft>
                <a:spcPts val="0"/>
              </a:spcAft>
            </a:pPr>
            <a:r>
              <a:rPr sz="1300" b="1" i="0">
                <a:solidFill>
                  <a:srgbClr val="F1F5F9"/>
                </a:solidFill>
              </a:rPr>
              <a:t>#1  Arang (B-1)</a:t>
            </a:r>
          </a:p>
          <a:p>
            <a:pPr algn="l">
              <a:spcAft>
                <a:spcPts val="400"/>
              </a:spcAft>
            </a:pPr>
            <a:r>
              <a:rPr sz="1050" b="0" i="0">
                <a:solidFill>
                  <a:srgbClr val="9CA8B8"/>
                </a:solidFill>
              </a:rPr>
              <a:t>mean deficiency 0.66  ·  high-risk 946 ha</a:t>
            </a:r>
          </a:p>
        </p:txBody>
      </p:sp>
      <p:sp>
        <p:nvSpPr>
          <p:cNvPr id="20" name="Rounded Rectangle 19"/>
          <p:cNvSpPr/>
          <p:nvPr/>
        </p:nvSpPr>
        <p:spPr>
          <a:xfrm>
            <a:off x="6812280" y="4553711"/>
            <a:ext cx="4663440" cy="713232"/>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4626863"/>
            <a:ext cx="4572000" cy="548640"/>
          </a:xfrm>
          <a:prstGeom prst="rect">
            <a:avLst/>
          </a:prstGeom>
          <a:noFill/>
        </p:spPr>
        <p:txBody>
          <a:bodyPr wrap="square">
            <a:spAutoFit/>
          </a:bodyPr>
          <a:lstStyle/>
          <a:p>
            <a:pPr algn="l">
              <a:spcAft>
                <a:spcPts val="0"/>
              </a:spcAft>
            </a:pPr>
            <a:r>
              <a:rPr sz="1300" b="1" i="0">
                <a:solidFill>
                  <a:srgbClr val="F1F5F9"/>
                </a:solidFill>
              </a:rPr>
              <a:t>#2  Abhanpur (A-1)</a:t>
            </a:r>
          </a:p>
          <a:p>
            <a:pPr algn="l">
              <a:spcAft>
                <a:spcPts val="400"/>
              </a:spcAft>
            </a:pPr>
            <a:r>
              <a:rPr sz="1050" b="0" i="0">
                <a:solidFill>
                  <a:srgbClr val="9CA8B8"/>
                </a:solidFill>
              </a:rPr>
              <a:t>mean deficiency 0.65  ·  high-risk 901 ha</a:t>
            </a:r>
          </a:p>
        </p:txBody>
      </p:sp>
      <p:sp>
        <p:nvSpPr>
          <p:cNvPr id="22" name="Rounded Rectangle 21"/>
          <p:cNvSpPr/>
          <p:nvPr/>
        </p:nvSpPr>
        <p:spPr>
          <a:xfrm>
            <a:off x="6812280" y="5358383"/>
            <a:ext cx="4663440" cy="713232"/>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60" y="5431535"/>
            <a:ext cx="4572000" cy="548640"/>
          </a:xfrm>
          <a:prstGeom prst="rect">
            <a:avLst/>
          </a:prstGeom>
          <a:noFill/>
        </p:spPr>
        <p:txBody>
          <a:bodyPr wrap="square">
            <a:spAutoFit/>
          </a:bodyPr>
          <a:lstStyle/>
          <a:p>
            <a:pPr algn="l">
              <a:spcAft>
                <a:spcPts val="0"/>
              </a:spcAft>
            </a:pPr>
            <a:r>
              <a:rPr sz="1300" b="1" i="0">
                <a:solidFill>
                  <a:srgbClr val="F1F5F9"/>
                </a:solidFill>
              </a:rPr>
              <a:t>#3  Arang (B-2)</a:t>
            </a:r>
          </a:p>
          <a:p>
            <a:pPr algn="l">
              <a:spcAft>
                <a:spcPts val="400"/>
              </a:spcAft>
            </a:pPr>
            <a:r>
              <a:rPr sz="1050" b="0" i="0">
                <a:solidFill>
                  <a:srgbClr val="9CA8B8"/>
                </a:solidFill>
              </a:rPr>
              <a:t>mean deficiency 0.63  ·  high-risk 817 ha</a:t>
            </a:r>
          </a:p>
        </p:txBody>
      </p:sp>
      <p:sp>
        <p:nvSpPr>
          <p:cNvPr id="24" name="TextBox 23"/>
          <p:cNvSpPr txBox="1"/>
          <p:nvPr/>
        </p:nvSpPr>
        <p:spPr>
          <a:xfrm>
            <a:off x="502920" y="6419088"/>
            <a:ext cx="11155680" cy="365760"/>
          </a:xfrm>
          <a:prstGeom prst="rect">
            <a:avLst/>
          </a:prstGeom>
          <a:noFill/>
        </p:spPr>
        <p:txBody>
          <a:bodyPr wrap="none">
            <a:spAutoFit/>
          </a:bodyPr>
          <a:lstStyle/>
          <a:p>
            <a:r>
              <a:rPr sz="900">
                <a:solidFill>
                  <a:srgbClr val="9CA8B8"/>
                </a:solidFill>
              </a:rPr>
              <a:t>SoilGuard-CG · Chhattisgarh Soil Carbon Sentinel · National Space Day Ideathon 2026</a:t>
            </a:r>
          </a:p>
          <a:p>
            <a:pPr algn="r"/>
            <a:r>
              <a:rPr sz="900">
                <a:solidFill>
                  <a:srgbClr val="9CA8B8"/>
                </a:solidFill>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92608"/>
            <a:ext cx="11155680" cy="457200"/>
          </a:xfrm>
          <a:prstGeom prst="rect">
            <a:avLst/>
          </a:prstGeom>
          <a:noFill/>
        </p:spPr>
        <p:txBody>
          <a:bodyPr wrap="square">
            <a:spAutoFit/>
          </a:bodyPr>
          <a:lstStyle/>
          <a:p>
            <a:pPr algn="l">
              <a:spcAft>
                <a:spcPts val="200"/>
              </a:spcAft>
            </a:pPr>
            <a:r>
              <a:rPr sz="1200" b="1" i="0">
                <a:solidFill>
                  <a:srgbClr val="38BDF8"/>
                </a:solidFill>
              </a:rPr>
              <a:t>FROM MAP TO ACTION</a:t>
            </a:r>
          </a:p>
        </p:txBody>
      </p:sp>
      <p:sp>
        <p:nvSpPr>
          <p:cNvPr id="3" name="TextBox 2"/>
          <p:cNvSpPr txBox="1"/>
          <p:nvPr/>
        </p:nvSpPr>
        <p:spPr>
          <a:xfrm>
            <a:off x="502920" y="566928"/>
            <a:ext cx="11155680" cy="822960"/>
          </a:xfrm>
          <a:prstGeom prst="rect">
            <a:avLst/>
          </a:prstGeom>
          <a:noFill/>
        </p:spPr>
        <p:txBody>
          <a:bodyPr wrap="square">
            <a:spAutoFit/>
          </a:bodyPr>
          <a:lstStyle/>
          <a:p>
            <a:pPr algn="l">
              <a:spcAft>
                <a:spcPts val="0"/>
              </a:spcAft>
            </a:pPr>
            <a:r>
              <a:rPr sz="3000" b="1" i="0">
                <a:solidFill>
                  <a:srgbClr val="F1F5F9"/>
                </a:solidFill>
              </a:rPr>
              <a:t>Clay-sensitive regenerative advisory for every sector</a:t>
            </a:r>
          </a:p>
        </p:txBody>
      </p:sp>
      <p:sp>
        <p:nvSpPr>
          <p:cNvPr id="4" name="Rectangle 3"/>
          <p:cNvSpPr/>
          <p:nvPr/>
        </p:nvSpPr>
        <p:spPr>
          <a:xfrm>
            <a:off x="502920" y="1371600"/>
            <a:ext cx="146304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81328"/>
            <a:ext cx="11155680" cy="457200"/>
          </a:xfrm>
          <a:prstGeom prst="rect">
            <a:avLst/>
          </a:prstGeom>
          <a:noFill/>
        </p:spPr>
        <p:txBody>
          <a:bodyPr wrap="square">
            <a:spAutoFit/>
          </a:bodyPr>
          <a:lstStyle/>
          <a:p>
            <a:pPr algn="l">
              <a:spcAft>
                <a:spcPts val="400"/>
              </a:spcAft>
            </a:pPr>
            <a:r>
              <a:rPr sz="1300" b="0" i="1">
                <a:solidFill>
                  <a:srgbClr val="9CA8B8"/>
                </a:solidFill>
              </a:rPr>
              <a:t>Every one of the 25 sectors gets an exact package — FYM tonnes, tillage, pH correction</a:t>
            </a:r>
          </a:p>
        </p:txBody>
      </p:sp>
      <p:sp>
        <p:nvSpPr>
          <p:cNvPr id="6" name="Rounded Rectangle 5"/>
          <p:cNvSpPr/>
          <p:nvPr/>
        </p:nvSpPr>
        <p:spPr>
          <a:xfrm>
            <a:off x="502920" y="1783080"/>
            <a:ext cx="6400800" cy="44348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5852160" cy="4114800"/>
          </a:xfrm>
          <a:prstGeom prst="rect">
            <a:avLst/>
          </a:prstGeom>
          <a:noFill/>
        </p:spPr>
        <p:txBody>
          <a:bodyPr wrap="square">
            <a:spAutoFit/>
          </a:bodyPr>
          <a:lstStyle/>
          <a:p>
            <a:pPr algn="l">
              <a:spcAft>
                <a:spcPts val="800"/>
              </a:spcAft>
            </a:pPr>
            <a:r>
              <a:rPr sz="1600" b="1" i="0">
                <a:solidFill>
                  <a:srgbClr val="22C55E"/>
                </a:solidFill>
              </a:rPr>
              <a:t>Advisory rules (recommendations.py)</a:t>
            </a:r>
          </a:p>
          <a:p>
            <a:pPr algn="l">
              <a:spcAft>
                <a:spcPts val="400"/>
              </a:spcAft>
            </a:pPr>
            <a:r>
              <a:rPr sz="1300" b="0" i="0">
                <a:solidFill>
                  <a:srgbClr val="F1F5F9"/>
                </a:solidFill>
              </a:rPr>
              <a:t>•  Tier 1 · risk ≥ 0.58 → 10–12 t/ha FYM or 3–4 t/ha biochar + green manuring + 100% residue retention</a:t>
            </a:r>
          </a:p>
          <a:p>
            <a:pPr algn="l">
              <a:spcAft>
                <a:spcPts val="400"/>
              </a:spcAft>
            </a:pPr>
            <a:r>
              <a:rPr sz="1300" b="0" i="0">
                <a:solidFill>
                  <a:srgbClr val="F1F5F9"/>
                </a:solidFill>
              </a:rPr>
              <a:t>•  Vertisol clay ≥ 250 g/kg → 8–10 t/ha FYM + zero-tillage (Happy Seeder) + straw retention</a:t>
            </a:r>
          </a:p>
          <a:p>
            <a:pPr algn="l">
              <a:spcAft>
                <a:spcPts val="400"/>
              </a:spcAft>
            </a:pPr>
            <a:r>
              <a:rPr sz="1300" b="0" i="0">
                <a:solidFill>
                  <a:srgbClr val="F1F5F9"/>
                </a:solidFill>
              </a:rPr>
              <a:t>•  pH &lt; 5.8 → agricultural lime 2.0–2.5 t/ha  ·  pH &gt; 7.5 → gypsum 2.0 t/ha</a:t>
            </a:r>
          </a:p>
          <a:p>
            <a:pPr algn="l">
              <a:spcAft>
                <a:spcPts val="400"/>
              </a:spcAft>
            </a:pPr>
            <a:r>
              <a:rPr sz="1300" b="0" i="0">
                <a:solidFill>
                  <a:srgbClr val="F1F5F9"/>
                </a:solidFill>
              </a:rPr>
              <a:t>•  BSI &gt; 0.25 → minimum tillage, cover cropping, contour bunding (moisture shield)</a:t>
            </a:r>
          </a:p>
          <a:p>
            <a:pPr algn="l">
              <a:spcAft>
                <a:spcPts val="200"/>
              </a:spcAft>
            </a:pPr>
            <a:r>
              <a:rPr sz="600" b="0" i="0">
                <a:solidFill>
                  <a:srgbClr val="F1F5F9"/>
                </a:solidFill>
              </a:rPr>
              <a:t> </a:t>
            </a:r>
          </a:p>
          <a:p>
            <a:pPr algn="l">
              <a:spcAft>
                <a:spcPts val="400"/>
              </a:spcAft>
            </a:pPr>
            <a:r>
              <a:rPr sz="1500" b="1" i="0">
                <a:solidFill>
                  <a:srgbClr val="38BDF8"/>
                </a:solidFill>
              </a:rPr>
              <a:t>Example — Arang (B-1):</a:t>
            </a:r>
          </a:p>
          <a:p>
            <a:pPr algn="l">
              <a:spcAft>
                <a:spcPts val="400"/>
              </a:spcAft>
            </a:pPr>
            <a:r>
              <a:rPr sz="1300" b="0" i="0">
                <a:solidFill>
                  <a:srgbClr val="F1F5F9"/>
                </a:solidFill>
              </a:rPr>
              <a:t>Risk 0.66 · low clay · → 10–12 t/ha FYM before Kharif + Dhaincha/Sunnhemp green manure + lime for acidic patches</a:t>
            </a:r>
          </a:p>
        </p:txBody>
      </p:sp>
      <p:sp>
        <p:nvSpPr>
          <p:cNvPr id="8" name="Rounded Rectangle 7"/>
          <p:cNvSpPr/>
          <p:nvPr/>
        </p:nvSpPr>
        <p:spPr>
          <a:xfrm>
            <a:off x="7132320" y="1783080"/>
            <a:ext cx="4572000" cy="44348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965960"/>
            <a:ext cx="4023360" cy="4023360"/>
          </a:xfrm>
          <a:prstGeom prst="rect">
            <a:avLst/>
          </a:prstGeom>
          <a:noFill/>
        </p:spPr>
        <p:txBody>
          <a:bodyPr wrap="square">
            <a:spAutoFit/>
          </a:bodyPr>
          <a:lstStyle/>
          <a:p>
            <a:pPr algn="l">
              <a:spcAft>
                <a:spcPts val="1000"/>
              </a:spcAft>
            </a:pPr>
            <a:r>
              <a:rPr sz="1600" b="1" i="0">
                <a:solidFill>
                  <a:srgbClr val="EF4444"/>
                </a:solidFill>
              </a:rPr>
              <a:t>Rank #1 · Arang (B-1)</a:t>
            </a:r>
          </a:p>
          <a:p>
            <a:pPr algn="l">
              <a:spcAft>
                <a:spcPts val="400"/>
              </a:spcAft>
            </a:pPr>
            <a:r>
              <a:rPr sz="1250" b="0" i="0">
                <a:solidFill>
                  <a:srgbClr val="F1F5F9"/>
                </a:solidFill>
              </a:rPr>
              <a:t>Mean SOC deficiency: 0.66</a:t>
            </a:r>
          </a:p>
          <a:p>
            <a:pPr algn="l">
              <a:spcAft>
                <a:spcPts val="400"/>
              </a:spcAft>
            </a:pPr>
            <a:r>
              <a:rPr sz="1250" b="0" i="0">
                <a:solidFill>
                  <a:srgbClr val="F1F5F9"/>
                </a:solidFill>
              </a:rPr>
              <a:t>High-deficiency area: 946 ha (82%)</a:t>
            </a:r>
          </a:p>
          <a:p>
            <a:pPr algn="l">
              <a:spcAft>
                <a:spcPts val="400"/>
              </a:spcAft>
            </a:pPr>
            <a:r>
              <a:rPr sz="1250" b="0" i="0">
                <a:solidFill>
                  <a:srgbClr val="F1F5F9"/>
                </a:solidFill>
              </a:rPr>
              <a:t/>
            </a:r>
          </a:p>
          <a:p>
            <a:pPr algn="l">
              <a:spcAft>
                <a:spcPts val="400"/>
              </a:spcAft>
            </a:pPr>
            <a:r>
              <a:rPr sz="1250" b="1" i="0">
                <a:solidFill>
                  <a:srgbClr val="38BDF8"/>
                </a:solidFill>
              </a:rPr>
              <a:t>Package:</a:t>
            </a:r>
          </a:p>
          <a:p>
            <a:pPr algn="l">
              <a:spcAft>
                <a:spcPts val="400"/>
              </a:spcAft>
            </a:pPr>
            <a:r>
              <a:rPr sz="1250" b="0" i="0">
                <a:solidFill>
                  <a:srgbClr val="F1F5F9"/>
                </a:solidFill>
              </a:rPr>
              <a:t>• 10–12 t/ha Farmyard Manure</a:t>
            </a:r>
          </a:p>
          <a:p>
            <a:pPr algn="l">
              <a:spcAft>
                <a:spcPts val="400"/>
              </a:spcAft>
            </a:pPr>
            <a:r>
              <a:rPr sz="1250" b="0" i="0">
                <a:solidFill>
                  <a:srgbClr val="F1F5F9"/>
                </a:solidFill>
              </a:rPr>
              <a:t>• Green manuring (Dhaincha/Sunnhemp)</a:t>
            </a:r>
          </a:p>
          <a:p>
            <a:pPr algn="l">
              <a:spcAft>
                <a:spcPts val="400"/>
              </a:spcAft>
            </a:pPr>
            <a:r>
              <a:rPr sz="1250" b="0" i="0">
                <a:solidFill>
                  <a:srgbClr val="F1F5F9"/>
                </a:solidFill>
              </a:rPr>
              <a:t>• 100% crop residue incorporation</a:t>
            </a:r>
          </a:p>
          <a:p>
            <a:pPr algn="l">
              <a:spcAft>
                <a:spcPts val="400"/>
              </a:spcAft>
            </a:pPr>
            <a:r>
              <a:rPr sz="1250" b="0" i="0">
                <a:solidFill>
                  <a:srgbClr val="F1F5F9"/>
                </a:solidFill>
              </a:rPr>
              <a:t>• Lime 2.0–2.5 t/ha for acidity</a:t>
            </a:r>
          </a:p>
          <a:p>
            <a:pPr algn="l">
              <a:spcAft>
                <a:spcPts val="400"/>
              </a:spcAft>
            </a:pPr>
            <a:r>
              <a:rPr sz="1250" b="0" i="0">
                <a:solidFill>
                  <a:srgbClr val="F1F5F9"/>
                </a:solidFill>
              </a:rPr>
              <a:t/>
            </a:r>
          </a:p>
          <a:p>
            <a:pPr algn="l">
              <a:spcAft>
                <a:spcPts val="400"/>
              </a:spcAft>
            </a:pPr>
            <a:r>
              <a:rPr sz="1250" b="1" i="0">
                <a:solidFill>
                  <a:srgbClr val="38BDF8"/>
                </a:solidFill>
              </a:rPr>
              <a:t>Funding fit: PMKSY / RKVY</a:t>
            </a:r>
          </a:p>
        </p:txBody>
      </p:sp>
      <p:sp>
        <p:nvSpPr>
          <p:cNvPr id="10" name="TextBox 9"/>
          <p:cNvSpPr txBox="1"/>
          <p:nvPr/>
        </p:nvSpPr>
        <p:spPr>
          <a:xfrm>
            <a:off x="502920" y="6419088"/>
            <a:ext cx="11155680" cy="365760"/>
          </a:xfrm>
          <a:prstGeom prst="rect">
            <a:avLst/>
          </a:prstGeom>
          <a:noFill/>
        </p:spPr>
        <p:txBody>
          <a:bodyPr wrap="none">
            <a:spAutoFit/>
          </a:bodyPr>
          <a:lstStyle/>
          <a:p>
            <a:r>
              <a:rPr sz="900">
                <a:solidFill>
                  <a:srgbClr val="9CA8B8"/>
                </a:solidFill>
              </a:rPr>
              <a:t>SoilGuard-CG · Chhattisgarh Soil Carbon Sentinel · National Space Day Ideathon 2026</a:t>
            </a:r>
          </a:p>
          <a:p>
            <a:pPr algn="r"/>
            <a:r>
              <a:rPr sz="900">
                <a:solidFill>
                  <a:srgbClr val="9CA8B8"/>
                </a:solidFill>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92608"/>
            <a:ext cx="11155680" cy="457200"/>
          </a:xfrm>
          <a:prstGeom prst="rect">
            <a:avLst/>
          </a:prstGeom>
          <a:noFill/>
        </p:spPr>
        <p:txBody>
          <a:bodyPr wrap="square">
            <a:spAutoFit/>
          </a:bodyPr>
          <a:lstStyle/>
          <a:p>
            <a:pPr algn="l">
              <a:spcAft>
                <a:spcPts val="200"/>
              </a:spcAft>
            </a:pPr>
            <a:r>
              <a:rPr sz="1200" b="1" i="0">
                <a:solidFill>
                  <a:srgbClr val="38BDF8"/>
                </a:solidFill>
              </a:rPr>
              <a:t>VALIDATION &amp; IMPACT</a:t>
            </a:r>
          </a:p>
        </p:txBody>
      </p:sp>
      <p:sp>
        <p:nvSpPr>
          <p:cNvPr id="3" name="TextBox 2"/>
          <p:cNvSpPr txBox="1"/>
          <p:nvPr/>
        </p:nvSpPr>
        <p:spPr>
          <a:xfrm>
            <a:off x="502920" y="566928"/>
            <a:ext cx="11155680" cy="822960"/>
          </a:xfrm>
          <a:prstGeom prst="rect">
            <a:avLst/>
          </a:prstGeom>
          <a:noFill/>
        </p:spPr>
        <p:txBody>
          <a:bodyPr wrap="square">
            <a:spAutoFit/>
          </a:bodyPr>
          <a:lstStyle/>
          <a:p>
            <a:pPr algn="l">
              <a:spcAft>
                <a:spcPts val="0"/>
              </a:spcAft>
            </a:pPr>
            <a:r>
              <a:rPr sz="3000" b="1" i="0">
                <a:solidFill>
                  <a:srgbClr val="F1F5F9"/>
                </a:solidFill>
              </a:rPr>
              <a:t>Cross-validated against ISRO Bhuvan — built for real deployment</a:t>
            </a:r>
          </a:p>
        </p:txBody>
      </p:sp>
      <p:sp>
        <p:nvSpPr>
          <p:cNvPr id="4" name="Rectangle 3"/>
          <p:cNvSpPr/>
          <p:nvPr/>
        </p:nvSpPr>
        <p:spPr>
          <a:xfrm>
            <a:off x="502920" y="1371600"/>
            <a:ext cx="146304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81328"/>
            <a:ext cx="11155680" cy="457200"/>
          </a:xfrm>
          <a:prstGeom prst="rect">
            <a:avLst/>
          </a:prstGeom>
          <a:noFill/>
        </p:spPr>
        <p:txBody>
          <a:bodyPr wrap="square">
            <a:spAutoFit/>
          </a:bodyPr>
          <a:lstStyle/>
          <a:p>
            <a:pPr algn="l">
              <a:spcAft>
                <a:spcPts val="400"/>
              </a:spcAft>
            </a:pPr>
            <a:r>
              <a:rPr sz="1300" b="0" i="1">
                <a:solidFill>
                  <a:srgbClr val="9CA8B8"/>
                </a:solidFill>
              </a:rPr>
              <a:t>Honest science, offline execution, societal benefit</a:t>
            </a:r>
          </a:p>
        </p:txBody>
      </p:sp>
      <p:sp>
        <p:nvSpPr>
          <p:cNvPr id="6" name="Rounded Rectangle 5"/>
          <p:cNvSpPr/>
          <p:nvPr/>
        </p:nvSpPr>
        <p:spPr>
          <a:xfrm>
            <a:off x="502920" y="1783080"/>
            <a:ext cx="6035040" cy="44348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5486400" cy="4114800"/>
          </a:xfrm>
          <a:prstGeom prst="rect">
            <a:avLst/>
          </a:prstGeom>
          <a:noFill/>
        </p:spPr>
        <p:txBody>
          <a:bodyPr wrap="square">
            <a:spAutoFit/>
          </a:bodyPr>
          <a:lstStyle/>
          <a:p>
            <a:pPr algn="l">
              <a:spcAft>
                <a:spcPts val="800"/>
              </a:spcAft>
            </a:pPr>
            <a:r>
              <a:rPr sz="1600" b="1" i="0">
                <a:solidFill>
                  <a:srgbClr val="22C55E"/>
                </a:solidFill>
              </a:rPr>
              <a:t>ISRO Bhuvan cross-validation</a:t>
            </a:r>
          </a:p>
          <a:p>
            <a:pPr algn="l">
              <a:spcAft>
                <a:spcPts val="400"/>
              </a:spcAft>
            </a:pPr>
            <a:r>
              <a:rPr sz="1300" b="0" i="0">
                <a:solidFill>
                  <a:srgbClr val="F1F5F9"/>
                </a:solidFill>
              </a:rPr>
              <a:t>•  48.96% bare-soil share validated against official Bhuvan 1:50,000 LULC cropland baseline (≈82.4% agricultural cropland match)</a:t>
            </a:r>
          </a:p>
          <a:p>
            <a:pPr algn="l">
              <a:spcAft>
                <a:spcPts val="400"/>
              </a:spcAft>
            </a:pPr>
            <a:r>
              <a:rPr sz="1300" b="0" i="0">
                <a:solidFill>
                  <a:srgbClr val="F1F5F9"/>
                </a:solidFill>
              </a:rPr>
              <a:t>•  Village Geocoding API maps hotspots to real Gram Panchayats — Chandkhuri, Kendri, Nawapara</a:t>
            </a:r>
          </a:p>
          <a:p>
            <a:pPr algn="l">
              <a:spcAft>
                <a:spcPts val="400"/>
              </a:spcAft>
            </a:pPr>
            <a:r>
              <a:rPr sz="1300" b="0" i="0">
                <a:solidFill>
                  <a:srgbClr val="F1F5F9"/>
                </a:solidFill>
              </a:rPr>
              <a:t>•  Ensemble confidence map shows where the model is certain vs uncertain</a:t>
            </a:r>
          </a:p>
          <a:p>
            <a:pPr algn="l">
              <a:spcAft>
                <a:spcPts val="200"/>
              </a:spcAft>
            </a:pPr>
            <a:r>
              <a:rPr sz="600" b="0" i="0">
                <a:solidFill>
                  <a:srgbClr val="F1F5F9"/>
                </a:solidFill>
              </a:rPr>
              <a:t> </a:t>
            </a:r>
          </a:p>
          <a:p>
            <a:pPr algn="l">
              <a:spcAft>
                <a:spcPts val="800"/>
              </a:spcAft>
            </a:pPr>
            <a:r>
              <a:rPr sz="1600" b="1" i="0">
                <a:solidFill>
                  <a:srgbClr val="38BDF8"/>
                </a:solidFill>
              </a:rPr>
              <a:t>Societal impact</a:t>
            </a:r>
          </a:p>
          <a:p>
            <a:pPr algn="l">
              <a:spcAft>
                <a:spcPts val="400"/>
              </a:spcAft>
            </a:pPr>
            <a:r>
              <a:rPr sz="1300" b="0" i="0">
                <a:solidFill>
                  <a:srgbClr val="F1F5F9"/>
                </a:solidFill>
              </a:rPr>
              <a:t>•  Zero-cost satellite guidance for 3.5M smallholder farmers</a:t>
            </a:r>
          </a:p>
          <a:p>
            <a:pPr algn="l">
              <a:spcAft>
                <a:spcPts val="400"/>
              </a:spcAft>
            </a:pPr>
            <a:r>
              <a:rPr sz="1300" b="0" i="0">
                <a:solidFill>
                  <a:srgbClr val="F1F5F9"/>
                </a:solidFill>
              </a:rPr>
              <a:t>•  Targeted fertiliser subsidy routing (PMKSY / RKVY)</a:t>
            </a:r>
          </a:p>
          <a:p>
            <a:pPr algn="l">
              <a:spcAft>
                <a:spcPts val="400"/>
              </a:spcAft>
            </a:pPr>
            <a:r>
              <a:rPr sz="1300" b="0" i="0">
                <a:solidFill>
                  <a:srgbClr val="F1F5F9"/>
                </a:solidFill>
              </a:rPr>
              <a:t>•  Aligns with National Carbon &amp; Green Credit programmes</a:t>
            </a:r>
          </a:p>
          <a:p>
            <a:pPr algn="l">
              <a:spcAft>
                <a:spcPts val="400"/>
              </a:spcAft>
            </a:pPr>
            <a:r>
              <a:rPr sz="1300" b="0" i="0">
                <a:solidFill>
                  <a:srgbClr val="F1F5F9"/>
                </a:solidFill>
              </a:rPr>
              <a:t>•  Fits ISRO's Earth-Observation-for-society mission</a:t>
            </a:r>
          </a:p>
        </p:txBody>
      </p:sp>
      <p:pic>
        <p:nvPicPr>
          <p:cNvPr id="8" name="Picture 7" descr="phase4_model_confidence_map.png"/>
          <p:cNvPicPr>
            <a:picLocks noChangeAspect="1"/>
          </p:cNvPicPr>
          <p:nvPr/>
        </p:nvPicPr>
        <p:blipFill>
          <a:blip r:embed="rId2"/>
          <a:stretch>
            <a:fillRect/>
          </a:stretch>
        </p:blipFill>
        <p:spPr>
          <a:xfrm>
            <a:off x="6766560" y="1783080"/>
            <a:ext cx="4937760" cy="4641494"/>
          </a:xfrm>
          <a:prstGeom prst="rect">
            <a:avLst/>
          </a:prstGeom>
        </p:spPr>
      </p:pic>
      <p:sp>
        <p:nvSpPr>
          <p:cNvPr id="9" name="Rounded Rectangle 8"/>
          <p:cNvSpPr/>
          <p:nvPr/>
        </p:nvSpPr>
        <p:spPr>
          <a:xfrm>
            <a:off x="6766560" y="4709160"/>
            <a:ext cx="4937760" cy="1234440"/>
          </a:xfrm>
          <a:prstGeom prst="roundRect">
            <a:avLst/>
          </a:prstGeom>
          <a:solidFill>
            <a:srgbClr val="111B2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31152" y="4818888"/>
            <a:ext cx="4608576" cy="685800"/>
          </a:xfrm>
          <a:prstGeom prst="rect">
            <a:avLst/>
          </a:prstGeom>
          <a:noFill/>
        </p:spPr>
        <p:txBody>
          <a:bodyPr wrap="square">
            <a:spAutoFit/>
          </a:bodyPr>
          <a:lstStyle/>
          <a:p>
            <a:pPr algn="l">
              <a:spcAft>
                <a:spcPts val="0"/>
              </a:spcAft>
            </a:pPr>
            <a:r>
              <a:rPr sz="2600" b="1" i="0">
                <a:solidFill>
                  <a:srgbClr val="22C55E"/>
                </a:solidFill>
              </a:rPr>
              <a:t>100% OFFLINE</a:t>
            </a:r>
          </a:p>
        </p:txBody>
      </p:sp>
      <p:sp>
        <p:nvSpPr>
          <p:cNvPr id="11" name="TextBox 10"/>
          <p:cNvSpPr txBox="1"/>
          <p:nvPr/>
        </p:nvSpPr>
        <p:spPr>
          <a:xfrm>
            <a:off x="6931152" y="5458968"/>
            <a:ext cx="4608576" cy="411480"/>
          </a:xfrm>
          <a:prstGeom prst="rect">
            <a:avLst/>
          </a:prstGeom>
          <a:noFill/>
        </p:spPr>
        <p:txBody>
          <a:bodyPr wrap="square">
            <a:spAutoFit/>
          </a:bodyPr>
          <a:lstStyle/>
          <a:p>
            <a:pPr algn="l">
              <a:spcAft>
                <a:spcPts val="400"/>
              </a:spcAft>
            </a:pPr>
            <a:r>
              <a:rPr sz="1100" b="0" i="0">
                <a:solidFill>
                  <a:srgbClr val="9CA8B8"/>
                </a:solidFill>
              </a:rPr>
              <a:t>cached COGs · district-office ready · ≈1 minute runtime</a:t>
            </a:r>
          </a:p>
        </p:txBody>
      </p:sp>
      <p:sp>
        <p:nvSpPr>
          <p:cNvPr id="12" name="TextBox 11"/>
          <p:cNvSpPr txBox="1"/>
          <p:nvPr/>
        </p:nvSpPr>
        <p:spPr>
          <a:xfrm>
            <a:off x="502920" y="6419088"/>
            <a:ext cx="11155680" cy="365760"/>
          </a:xfrm>
          <a:prstGeom prst="rect">
            <a:avLst/>
          </a:prstGeom>
          <a:noFill/>
        </p:spPr>
        <p:txBody>
          <a:bodyPr wrap="none">
            <a:spAutoFit/>
          </a:bodyPr>
          <a:lstStyle/>
          <a:p>
            <a:r>
              <a:rPr sz="900">
                <a:solidFill>
                  <a:srgbClr val="9CA8B8"/>
                </a:solidFill>
              </a:rPr>
              <a:t>SoilGuard-CG · Chhattisgarh Soil Carbon Sentinel · National Space Day Ideathon 2026</a:t>
            </a:r>
          </a:p>
          <a:p>
            <a:pPr algn="r"/>
            <a:r>
              <a:rPr sz="900">
                <a:solidFill>
                  <a:srgbClr val="9CA8B8"/>
                </a:solidFill>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